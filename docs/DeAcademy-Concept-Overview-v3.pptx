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21"/>
    <p:sldId id="271" r:id="rId22"/>
    <p:sldId id="272" r:id="rId23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image" Target="../media/image-8-1.png"/><Relationship Id="rId9" Type="http://schemas.openxmlformats.org/officeDocument/2006/relationships/image" Target="../media/image-8-2.png"/><Relationship Id="rId10" Type="http://schemas.openxmlformats.org/officeDocument/2006/relationships/image" Target="../media/image-8-10.png"/><Relationship Id="rId11" Type="http://schemas.openxmlformats.org/officeDocument/2006/relationships/image" Target="../media/image-8-2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1554480" cy="1554480"/>
          </a:xfrm>
          <a:prstGeom prst="ellipse">
            <a:avLst/>
          </a:prstGeom>
          <a:solidFill>
            <a:srgbClr val="D68A1F"/>
          </a:solidFill>
          <a:ln/>
        </p:spPr>
        <p:txBody>
          <a:bodyPr/>
          <a:p/>
        </p:txBody>
      </p:sp>
      <p:pic>
        <p:nvPicPr>
          <p:cNvPr id="3" name="Image 0" descr="/home/claude/pptx_work/icons/Fi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1125" y="1227125"/>
            <a:ext cx="746150" cy="746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TECHNICAL CONCEPT OVERVIEW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DeAcademy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Certification LMS to a Verified Competency Marketplace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D68A1F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296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Development Team &amp; IT Project Management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193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· v3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grew beyond a training LMS into three integrated pillars working off the same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68880"/>
            <a:ext cx="685800" cy="68580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6471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LMS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and deliver accredited training with a full assessment workflow — quizzes, exercises, workshops, and examiner-reviewed final exams.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468880"/>
            <a:ext cx="685800" cy="68580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12" name="Image 1" descr="/home/claude/pptx_work/icons/Fi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26471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Competency Marketplace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becomes a permanent, shareable portfolio — with consent-gated verification for employers.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58200" y="2468880"/>
            <a:ext cx="685800" cy="68580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17" name="Image 2" descr="/home/claude/pptx_work/icons/Fi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6471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LMS-as-a-Service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5820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clients run their own private training — induction, SOPs, internal competency — fully isolated from other tenants.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Roles, Seven Workspaces, One Unified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with a workspace switcher — and every role also gets a Participant workspace of their 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23160"/>
            <a:ext cx="548640" cy="54864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5658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30632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Learns, earns certificates, builds a public portfolio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6552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2584" y="2423160"/>
            <a:ext cx="548640" cy="54864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2" name="Image 1" descr="/home/claude/pptx_work/icons/FiEdi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5658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 / Examiner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72584" y="30632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grades exercises &amp; workshops; Examiner decides final exams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3024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9056" y="2423160"/>
            <a:ext cx="548640" cy="54864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17" name="Image 2" descr="/home/claude/pptx_work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2" y="25658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3144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49056" y="30632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access, security &amp; audit across the platform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572000"/>
            <a:ext cx="548640" cy="548640"/>
          </a:xfrm>
          <a:prstGeom prst="ellipse">
            <a:avLst/>
          </a:prstGeom>
          <a:solidFill>
            <a:srgbClr val="17307D"/>
          </a:solidFill>
          <a:ln/>
        </p:spPr>
      </p:sp>
      <p:pic>
        <p:nvPicPr>
          <p:cNvPr id="22" name="Image 3" descr="/home/claude/pptx_work/icons/Fi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471464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96112" y="521208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whole platform — content, accounts, analytics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416552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72584" y="4572000"/>
            <a:ext cx="548640" cy="54864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27" name="Image 4" descr="/home/claude/pptx_work/icons/FiBriefc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230" y="4714646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6672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Admin (PIC)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72584" y="521208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employees &amp; private internal training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93024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49056" y="4572000"/>
            <a:ext cx="548640" cy="54864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32" name="Image 5" descr="/home/claude/pptx_work/icons/Fi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702" y="4714646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53144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/ Verifier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49056" y="521208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talent, verifies competency with consent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App — Every Workspace Inside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prototype: lsp-unified-app.html — incl. Super Admin workspace and guest landing (browse &amp; search, no account)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5081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 Dashboard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30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home base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47288" y="2148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75888" y="2377440"/>
            <a:ext cx="502920" cy="50292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12" name="Image 1" descr="/home/claude/pptx_work/icons/FiShopping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47" y="25081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Catalog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75888" y="3630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purchase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2148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83096" y="2377440"/>
            <a:ext cx="502920" cy="50292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17" name="Image 2" descr="/home/claude/pptx_work/icons/FiPlay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55" y="25081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3096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Player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83096" y="3630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learning happens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61704" y="2148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90304" y="2377440"/>
            <a:ext cx="502920" cy="50292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22" name="Image 3" descr="/home/claude/pptx_work/icons/Fi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063" y="25081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0304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Verification Page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90304" y="3630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proof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4370832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599432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27" name="Image 4" descr="/home/claude/pptx_work/icons/FiCheck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4730191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5239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Tutor/Examiner Workspace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68680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&amp; decisions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47288" y="4370832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675888" y="4599432"/>
            <a:ext cx="502920" cy="502920"/>
          </a:xfrm>
          <a:prstGeom prst="ellipse">
            <a:avLst/>
          </a:prstGeom>
          <a:solidFill>
            <a:srgbClr val="17307D"/>
          </a:solidFill>
          <a:ln/>
        </p:spPr>
      </p:sp>
      <p:pic>
        <p:nvPicPr>
          <p:cNvPr id="32" name="Image 5" descr="/home/claude/pptx_work/icons/FiGri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647" y="4730191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75888" y="5239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Console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675888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control center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54496" y="4370832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483096" y="4599432"/>
            <a:ext cx="502920" cy="50292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37" name="Image 6" descr="/home/claude/pptx_work/icons/FiBriefc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855" y="4730191"/>
            <a:ext cx="241402" cy="24140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83096" y="5239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Admin Portal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483096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internal training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061704" y="4370832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290304" y="4599432"/>
            <a:ext cx="502920" cy="50292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42" name="Image 7" descr="/home/claude/pptx_work/icons/FiSearc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1063" y="4730191"/>
            <a:ext cx="241402" cy="24140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90304" y="5239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Verifier Portal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290304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verify talent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Enrollment to Verified Portfolio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that makes the marketplace pillar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06040" y="3200400"/>
            <a:ext cx="201168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5860" y="2743200"/>
            <a:ext cx="914400" cy="91440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980944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4228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4228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 &amp; Learn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purchase → Course Player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73168" y="3200400"/>
            <a:ext cx="201168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2988" y="2743200"/>
            <a:ext cx="914400" cy="91440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4" name="Image 1" descr="/home/claude/pptx_work/icons/FiCheck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980944"/>
            <a:ext cx="438912" cy="438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991356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991356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807208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Assessed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807208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exercise, workshop, exam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940296" y="3200400"/>
            <a:ext cx="201168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00116" y="2743200"/>
            <a:ext cx="914400" cy="91440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21" name="Image 2" descr="/home/claude/pptx_work/icons/FiAw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980944"/>
            <a:ext cx="438912" cy="43891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158484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58484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974336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4974336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issued, CPD tracking starts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107424" y="3200400"/>
            <a:ext cx="201168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667244" y="2743200"/>
            <a:ext cx="914400" cy="91440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28" name="Image 3" descr="/home/claude/pptx_work/icons/Fi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2980944"/>
            <a:ext cx="438912" cy="43891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325612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325612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141464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Built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141464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profile, consent settings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9834372" y="2743200"/>
            <a:ext cx="914400" cy="9144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34" name="Image 4" descr="/home/claude/pptx_work/icons/Fi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116" y="2980944"/>
            <a:ext cx="438912" cy="43891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492740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049274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308592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9308592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searches, requests, gets consent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as Their Own LMS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Course Player, same experience — but the content stays private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54680" y="2743200"/>
            <a:ext cx="256032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2286000"/>
            <a:ext cx="914400" cy="91440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7" name="Image 0" descr="/home/claude/pptx_work/icons/FiEdi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5237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 Builds Training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Induction, SOPs, internal competency — using the same content editor as DeAcademy's own catalog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25312" y="2743200"/>
            <a:ext cx="256032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10812" y="2286000"/>
            <a:ext cx="914400" cy="91440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12" name="Image 1" descr="/home/claude/pptx_work/icons/Fi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5237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3429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to Employees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0712" y="395020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Assign Training flow used for public catalog courses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695944" y="2743200"/>
            <a:ext cx="256032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81444" y="2286000"/>
            <a:ext cx="914400" cy="91440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7" name="Image 2" descr="/home/claude/pptx_work/icons/FiPlay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252374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81344" y="3429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Course Player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81344" y="395020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see zero difference — video/slides, quiz, exercise, exam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752076" y="2286000"/>
            <a:ext cx="914400" cy="91440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21" name="Image 3" descr="/home/claude/pptx_work/icons/Fi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52374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51976" y="3429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Private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51976" y="395020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other companies AND to DeAcademy staff — only completion metadata syncs back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53949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5559552"/>
            <a:ext cx="365760" cy="36576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26" name="Image 4" descr="/home/claude/pptx_work/icons/Fi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5654650"/>
            <a:ext cx="175565" cy="1755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3949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pitch for corporate clients: DeAcademy replaces their own internal LMS entirely.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Always Requires Consent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info is instant — anything deeper is gated by the participant's choice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23360" y="2880360"/>
            <a:ext cx="320040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1005840" cy="100584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7" name="Image 0" descr="/home/claude/pptx_work/icons/Fi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758" y="263895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Searches &amp; Requests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public profile, requests the full verification report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43800" y="2880360"/>
            <a:ext cx="320040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440680" y="2377440"/>
            <a:ext cx="1005840" cy="100584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12" name="Image 1" descr="/home/claude/pptx_work/icons/Fi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198" y="2638958"/>
            <a:ext cx="482803" cy="482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 Approves or Denies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343400" y="4160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they've pre-set Full Access, every request needs their action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961120" y="2377440"/>
            <a:ext cx="1005840" cy="10058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2" descr="/home/claude/pptx_work/icons/FiUn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638" y="263895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6384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Unlocked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863840" y="4160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Viewable in-platform immediately, with an optional PDF download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5074920"/>
            <a:ext cx="10332720" cy="868680"/>
          </a:xfrm>
          <a:prstGeom prst="roundRect">
            <a:avLst>
              <a:gd name="adj" fmla="val 6316"/>
            </a:avLst>
          </a:prstGeom>
          <a:solidFill>
            <a:srgbClr val="FDF3E4"/>
          </a:solidFill>
          <a:ln w="12700">
            <a:solidFill>
              <a:srgbClr val="D68A1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18872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the participant controls: Full Access (auto-approve) · Partial (summary only, never full) · Request-Based (approve every time).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DEVELOPERS MUST NOT MISS —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Certificates Aren't Just Valid or Expired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lifecycles, depending on whether the certificate requires CPD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95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CPD-REQUIRED CERTIFICATES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731520" cy="73152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7" name="Image 0" descr="/home/claude/pptx_work/icons/Fi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27047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pic>
        <p:nvPicPr>
          <p:cNvPr id="9" name="Image 1" descr="/home/claude/pptx_work/icons/Fi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74320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74520" y="2514600"/>
            <a:ext cx="731520" cy="73152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11" name="Image 2" descr="/home/claude/pptx_work/icons/Fi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15" y="270479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Period</a:t>
            </a:r>
            <a:endParaRPr lang="en-US" sz="1050" dirty="0"/>
          </a:p>
        </p:txBody>
      </p:sp>
      <p:pic>
        <p:nvPicPr>
          <p:cNvPr id="13" name="Image 3" descr="/home/claude/pptx_work/icons/Fi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274320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108960" y="2514600"/>
            <a:ext cx="731520" cy="73152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15" name="Image 4" descr="/home/claude/pptx_work/icons/FiPause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155" y="2704795"/>
            <a:ext cx="351130" cy="3511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3464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</a:t>
            </a:r>
            <a:endParaRPr lang="en-US" sz="1050" dirty="0"/>
          </a:p>
        </p:txBody>
      </p:sp>
      <p:pic>
        <p:nvPicPr>
          <p:cNvPr id="17" name="Image 5" descr="/home/claude/pptx_work/icons/Fi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9352" y="2743200"/>
            <a:ext cx="274320" cy="2743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343400" y="2514600"/>
            <a:ext cx="731520" cy="73152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19" name="Image 6" descr="/home/claude/pptx_work/icons/FiX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595" y="2704795"/>
            <a:ext cx="351130" cy="35113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06908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6126480" y="2651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requires re-assessment to reactivate — catching up on CPD hours alone is no longer enough.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NON-CPD CERTIFICATES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640080" y="4434840"/>
            <a:ext cx="731520" cy="73152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4" name="Image 7" descr="/home/claude/pptx_work/icons/Fi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" y="4625035"/>
            <a:ext cx="351130" cy="35113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3716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pic>
        <p:nvPicPr>
          <p:cNvPr id="26" name="Image 8" descr="/home/claude/pptx_work/icons/Fi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0552" y="4663440"/>
            <a:ext cx="274320" cy="27432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2514600" y="4434840"/>
            <a:ext cx="731520" cy="73152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28" name="Image 9" descr="/home/claude/pptx_work/icons/FiHelp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4795" y="4625035"/>
            <a:ext cx="351130" cy="35113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201168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Due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3 yrs)</a:t>
            </a:r>
            <a:endParaRPr lang="en-US" sz="1050" dirty="0"/>
          </a:p>
        </p:txBody>
      </p:sp>
      <p:pic>
        <p:nvPicPr>
          <p:cNvPr id="30" name="Image 10" descr="/home/claude/pptx_work/icons/FiArrow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05072" y="4663440"/>
            <a:ext cx="274320" cy="274320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4389120" y="4434840"/>
            <a:ext cx="731520" cy="73152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32" name="Image 11" descr="/home/claude/pptx_work/icons/FiMo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9315" y="4625035"/>
            <a:ext cx="351130" cy="35113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388620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050" dirty="0"/>
          </a:p>
        </p:txBody>
      </p:sp>
      <p:sp>
        <p:nvSpPr>
          <p:cNvPr id="34" name="Text 20"/>
          <p:cNvSpPr/>
          <p:nvPr/>
        </p:nvSpPr>
        <p:spPr>
          <a:xfrm>
            <a:off x="6126480" y="45720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accepted: project log, workload letter, or work sample — optionally co-signed by the employer for a stronger "Employer-Verified" badge.</a:t>
            </a:r>
            <a:endParaRPr lang="en-US" sz="1150" dirty="0"/>
          </a:p>
        </p:txBody>
      </p:sp>
      <p:sp>
        <p:nvSpPr>
          <p:cNvPr id="35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36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DEVELOPERS MUST NOT MISS —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Structural, Not Just 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rules below must be enforced server-side — hiding a button in the frontend is not access control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3-Level Consent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0" name="Image 1" descr="/home/claude/pptx_work/icons/Fi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0050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858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4592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instantly after payment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05840" y="45720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4" name="Image 2" descr="/home/claude/pptx_work/icons/Fi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6908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544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645920" y="4828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only — full report never available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05840" y="52578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8" name="Image 3" descr="/home/claude/pptx_work/icons/Fi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53766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5230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Request-Based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645920" y="5513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approves or denies each one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29400" y="2514600"/>
            <a:ext cx="640080" cy="64008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23" name="Image 4" descr="/home/claude/pptx_work/icons/Fi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26810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2940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Isolation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62940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internal training content is invisible to other companies — and to DeAcademy Operators themselves. Only aggregate metadata (training count, enrollment numbers) is shared for billing and capacity planning.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629400" y="5212080"/>
            <a:ext cx="4526280" cy="640080"/>
          </a:xfrm>
          <a:prstGeom prst="roundRect">
            <a:avLst>
              <a:gd name="adj" fmla="val 8571"/>
            </a:avLst>
          </a:prstGeom>
          <a:solidFill>
            <a:srgbClr val="FBEAE7"/>
          </a:solidFill>
          <a:ln/>
        </p:spPr>
      </p:sp>
      <p:sp>
        <p:nvSpPr>
          <p:cNvPr id="27" name="Text 20"/>
          <p:cNvSpPr/>
          <p:nvPr/>
        </p:nvSpPr>
        <p:spPr>
          <a:xfrm>
            <a:off x="6812280" y="5212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via Row-Level Security scoped to company_id — not application-layer filtering alone.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DEVELOPERS MUST NOT MISS —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Positions Are Master Data, Upsells Follow Attributes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Aug 2026 — job titles come from a managed dropdown, and upsell targeting is computed from user attributes, not roles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Master Data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0" name="Image 1" descr="/home/claude/pptx_work/icons/Fi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0050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858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146-entry seed, 15 categories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4592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data/positions.json — no free text at signup or on the profile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05840" y="45720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4" name="Image 2" descr="/home/claude/pptx_work/icons/Fi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6908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544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/ Super Admin extend it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645920" y="4828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entries are is_system=false; seed entries deactivate, never delete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05840" y="52578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8" name="Image 3" descr="/home/claude/pptx_work/icons/Fi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53766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5230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hrFamily flag = HR professions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645920" y="5513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HR-family positions drive Verify Talent targeting — no deploy needed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29400" y="2514600"/>
            <a:ext cx="640080" cy="64008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23" name="Image 4" descr="/home/claude/pptx_work/icons/Fi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26810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2940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Upsell Targeting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62940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Training → has a company, not yet Corporate Admin. Verify Talent → has a company OR an HR-family position. Manage Clients → independent users. An HR individual without a company gets BOTH.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629400" y="5212080"/>
            <a:ext cx="4526280" cy="640080"/>
          </a:xfrm>
          <a:prstGeom prst="roundRect">
            <a:avLst>
              <a:gd name="adj" fmla="val 8571"/>
            </a:avLst>
          </a:prstGeom>
          <a:solidFill>
            <a:srgbClr val="FBEAE7"/>
          </a:solidFill>
          <a:ln/>
        </p:spPr>
      </p:sp>
      <p:sp>
        <p:nvSpPr>
          <p:cNvPr id="27" name="Text 20"/>
          <p:cNvSpPr/>
          <p:nvPr/>
        </p:nvSpPr>
        <p:spPr>
          <a:xfrm>
            <a:off x="6812280" y="5212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upsells[] server-side in GET /me and interpolate the user's own company name — never hardcode. Contract tests: tests/test_upsell_matrix.py.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DIRECTION — v3.1 (APPROVED)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Growth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the product owner, Aug 2026 — full specs in PRD v3.1 §4.12–§4.16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&amp; Demand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0" name="Image 1" descr="/home/claude/pptx_work/icons/Fi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0050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858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Engine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4592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employer searches feed the catalog — operator demand signals + in-catalog badges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05840" y="45720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4" name="Image 2" descr="/home/claude/pptx_work/icons/Fi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6908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544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Verification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645920" y="4828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certificate_number + QR → free public status check; bulk verify is a paid verifier feature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05840" y="52578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8" name="Image 3" descr="/home/claude/pptx_work/icons/Fi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53766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5230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Waitlist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645920" y="5513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batches take signups — demand signal per training, warm leads for the next batch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29400" y="2514600"/>
            <a:ext cx="640080" cy="64008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23" name="Image 4" descr="/home/claude/pptx_work/icons/Fi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26810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2940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&amp; Lifetime Value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62940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reminders at 90/30/7 days with calendar (ICS) export and a monthly lapse-risk digest for Corporate Admins. Every certification purchase bundles 1 year of Premium membership.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629400" y="5212080"/>
            <a:ext cx="4526280" cy="640080"/>
          </a:xfrm>
          <a:prstGeom prst="roundRect">
            <a:avLst>
              <a:gd name="adj" fmla="val 8571"/>
            </a:avLst>
          </a:prstGeom>
          <a:solidFill>
            <a:srgbClr val="FBEAE7"/>
          </a:solidFill>
          <a:ln/>
        </p:spPr>
      </p:sp>
      <p:sp>
        <p:nvSpPr>
          <p:cNvPr id="27" name="Text 20"/>
          <p:cNvSpPr/>
          <p:nvPr/>
        </p:nvSpPr>
        <p:spPr>
          <a:xfrm>
            <a:off x="6812280" y="5212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Portfolio: certificates belong to the person, not the employer — offboarding keeps the portfolio intact and feeds the talent pool.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WORKSPACE — v3.2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Management: Executive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workspace for the Head of Academy — working preview: management-dashboard-preview.html (sample data)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· Growth · Retention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0" name="Image 1" descr="/home/claude/pptx_work/icons/Fi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0050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858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stream, MoM &amp; YoY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4592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Training / Self-Study / In-house / Membership / Verifier — plus recurring vs one-off mix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05840" y="45720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4" name="Image 2" descr="/home/claude/pptx_work/icons/Fi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6908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544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participants &amp; accounts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645920" y="4828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and year-over-year, individual and corporate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05840" y="52578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8" name="Image 3" descr="/home/claude/pptx_work/icons/Fi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53766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5230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Repeat-purchase cohorts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645920" y="5513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bought again vs went quiet — cut at 1 / 2 / 3+ years since last purchase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29400" y="2514600"/>
            <a:ext cx="640080" cy="64008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23" name="Image 4" descr="/home/claude/pptx_work/icons/Fi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26810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2940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People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62940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 3 trainings by sales; top 3 competencies employers search for; top 3 catalog searches DeAcademy cannot serve yet; leaderboards for loyalty, on-time payment, and on-time certification; corporate churn-risk health.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629400" y="5212080"/>
            <a:ext cx="4526280" cy="640080"/>
          </a:xfrm>
          <a:prstGeom prst="roundRect">
            <a:avLst>
              <a:gd name="adj" fmla="val 8571"/>
            </a:avLst>
          </a:prstGeom>
          <a:solidFill>
            <a:srgbClr val="FBEAE7"/>
          </a:solidFill>
          <a:ln/>
        </p:spPr>
      </p:sp>
      <p:sp>
        <p:nvSpPr>
          <p:cNvPr id="27" name="Text 20"/>
          <p:cNvSpPr/>
          <p:nvPr/>
        </p:nvSpPr>
        <p:spPr>
          <a:xfrm>
            <a:off x="6812280" y="5212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backbone: orders + order_items (training revenue finally has a source table) and catalog_search_events (captures unmet demand).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— full field-level schema is in DATA-MODEL.md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92040" y="2674620"/>
            <a:ext cx="50292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2674620"/>
            <a:ext cx="50292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4040" y="2674620"/>
            <a:ext cx="22860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4503420"/>
            <a:ext cx="96012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4503420"/>
            <a:ext cx="96012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952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286000"/>
            <a:ext cx="109728" cy="777240"/>
          </a:xfrm>
          <a:prstGeom prst="rect">
            <a:avLst/>
          </a:prstGeom>
          <a:solidFill>
            <a:srgbClr val="2952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0896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286000"/>
            <a:ext cx="109728" cy="77724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9496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EA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2286000"/>
            <a:ext cx="109728" cy="7772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EA5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286000"/>
            <a:ext cx="109728" cy="7772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9264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68A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0" y="2286000"/>
            <a:ext cx="109728" cy="777240"/>
          </a:xfrm>
          <a:prstGeom prst="rect">
            <a:avLst/>
          </a:prstGeom>
          <a:solidFill>
            <a:srgbClr val="D68A1F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965960" y="4114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5960" y="4114800"/>
            <a:ext cx="109728" cy="77724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114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80560" y="4114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4114800"/>
            <a:ext cx="109728" cy="77724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114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Settings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23760" y="4114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B440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4114800"/>
            <a:ext cx="109728" cy="777240"/>
          </a:xfrm>
          <a:prstGeom prst="rect">
            <a:avLst/>
          </a:prstGeom>
          <a:solidFill>
            <a:srgbClr val="B4402E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4114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Requests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966960" y="4114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B440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4114800"/>
            <a:ext cx="109728" cy="777240"/>
          </a:xfrm>
          <a:prstGeom prst="rect">
            <a:avLst/>
          </a:prstGeom>
          <a:solidFill>
            <a:srgbClr val="B4402E"/>
          </a:solidFill>
          <a:ln/>
        </p:spPr>
      </p:sp>
      <p:sp>
        <p:nvSpPr>
          <p:cNvPr id="36" name="Text 34"/>
          <p:cNvSpPr/>
          <p:nvPr/>
        </p:nvSpPr>
        <p:spPr>
          <a:xfrm>
            <a:off x="10149840" y="4114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Accounts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hold roles across Companies (multi-tenant) and Trainings, and reference a Positions master table (HR-family flag drives upsell targeting); Enrollments produce Certificates, which feed CPD and the Portfolio; Verification Requests connect Portfolio Settings to Verifier Accounts; sensitive actions land in the Audit Log. Full schema: DATA-MODEL.md v3.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Infrastructure Needs to Handle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areas that shape the technical architecture from day 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640080" cy="64008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7" name="Image 0" descr="/home/claude/pptx_work/icons/Fi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Multi-Tenancy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access control per company; internal training content isolated at the storage layer, not just the API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21945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514600"/>
            <a:ext cx="640080" cy="64008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2" name="Image 1" descr="/home/claude/pptx_work/icons/Fi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6810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Storage &amp; Conversion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narration audio, PPTX-to-slide conversion — object storage with signed URLs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2976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61772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7" name="Image 2" descr="/home/claude/pptx_work/icons/FiCredit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478414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617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&amp; Subscriptions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60120" y="5257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sales, corporate invoicing, participant membership, verifier plans — all recurring-capable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2976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617720"/>
            <a:ext cx="640080" cy="64008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22" name="Image 3" descr="/home/claude/pptx_work/icons/Fi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7841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617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83680" y="5257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reminders, training deadlines, verification requests, corporate activation invites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PACKAGE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Getting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to start technical scoping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App + Portal References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84048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lsp-unified-app.html — integrated prototype (all workspaces + guest landing)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React portal files — per-workspace detail references (v3 headers)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positions-master-data.js + data/positions.json — 146-entry seed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 suite — 58 tests incl. the upsell contract matrix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514600"/>
            <a:ext cx="640080" cy="64008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12" name="Image 1" descr="/home/claude/pptx_work/icons/Fi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6810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337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Technical Documents (v3.1)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384048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v3.1 — scope, business rules, upsell targeting, growth features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DATA-MODEL v3 + erd.mermaid — incl. positions, audit_log, sso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ROLES-PERMISSIONS-MATRIX v3 — incl. Super Admin &amp; guest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API-ENDPOINTS v3 — incl. /positions &amp; /admin modules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PROCESS-FLOWS — key backend flows (mermaid)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Phasing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6264F"/>
          </a:solidFill>
          <a:ln w="12700">
            <a:solidFill>
              <a:srgbClr val="2A3D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548640" cy="548640"/>
          </a:xfrm>
          <a:prstGeom prst="ellipse">
            <a:avLst/>
          </a:prstGeom>
          <a:solidFill>
            <a:srgbClr val="D68A1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LMS &amp; Certification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Course Player, Tutor/Examiner, basic certificates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6264F"/>
          </a:solidFill>
          <a:ln w="12700">
            <a:solidFill>
              <a:srgbClr val="2A3D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984248"/>
            <a:ext cx="548640" cy="548640"/>
          </a:xfrm>
          <a:prstGeom prst="ellipse">
            <a:avLst/>
          </a:prstGeom>
          <a:solidFill>
            <a:srgbClr val="D68A1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965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Multi-Tenant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Admin, internal training, operator provisioning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6264F"/>
          </a:solidFill>
          <a:ln w="12700">
            <a:solidFill>
              <a:srgbClr val="2A3D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984248"/>
            <a:ext cx="548640" cy="548640"/>
          </a:xfrm>
          <a:prstGeom prst="ellipse">
            <a:avLst/>
          </a:prstGeom>
          <a:solidFill>
            <a:srgbClr val="D68A1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0" y="1965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Marketplace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58200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Membership, portfolio, Employer Verifier, consent flows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THIS MEETING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21" name="Image 0" descr="/home/claude/pptx_work/icons/Fi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4438498"/>
            <a:ext cx="175565" cy="17556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872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consent level for new participants — Request-Based or Partial?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4937760"/>
            <a:ext cx="365760" cy="36576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24" name="Image 1" descr="/home/claude/pptx_work/icons/FiHelp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5032858"/>
            <a:ext cx="175565" cy="17556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887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verifies Competency Currency Attestations for individual (non-corporate) participants?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532120"/>
            <a:ext cx="365760" cy="36576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27" name="Image 2" descr="/home/claude/pptx_work/icons/FiHelp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5627218"/>
            <a:ext cx="175565" cy="17556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8872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policy when a verifier request is denied by the participant?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8384" y="1920240"/>
            <a:ext cx="1463040" cy="146304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3" name="Image 0" descr="/home/claude/pptx_work/icons/FiMessage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8774" y="2300630"/>
            <a:ext cx="702259" cy="70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Discuss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737360" y="4434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and 8 working prototypes are available for reference during scoping.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2026-07-24T07:54:21Z</dcterms:created>
  <dcterms:modified xsi:type="dcterms:W3CDTF">2026-07-24T07:54:21Z</dcterms:modified>
</cp:coreProperties>
</file>