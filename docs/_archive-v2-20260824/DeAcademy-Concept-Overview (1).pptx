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2.png"/><Relationship Id="rId5" Type="http://schemas.openxmlformats.org/officeDocument/2006/relationships/image" Target="../media/image-8-5.png"/><Relationship Id="rId6" Type="http://schemas.openxmlformats.org/officeDocument/2006/relationships/image" Target="../media/image-8-2.png"/><Relationship Id="rId7" Type="http://schemas.openxmlformats.org/officeDocument/2006/relationships/image" Target="../media/image-8-7.png"/><Relationship Id="rId8" Type="http://schemas.openxmlformats.org/officeDocument/2006/relationships/image" Target="../media/image-8-1.png"/><Relationship Id="rId9" Type="http://schemas.openxmlformats.org/officeDocument/2006/relationships/image" Target="../media/image-8-2.png"/><Relationship Id="rId10" Type="http://schemas.openxmlformats.org/officeDocument/2006/relationships/image" Target="../media/image-8-10.png"/><Relationship Id="rId11" Type="http://schemas.openxmlformats.org/officeDocument/2006/relationships/image" Target="../media/image-8-2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822960"/>
            <a:ext cx="1554480" cy="1554480"/>
          </a:xfrm>
          <a:prstGeom prst="ellipse">
            <a:avLst/>
          </a:prstGeom>
          <a:solidFill>
            <a:srgbClr val="D68A1F"/>
          </a:solidFill>
          <a:ln/>
        </p:spPr>
      </p:sp>
      <p:pic>
        <p:nvPicPr>
          <p:cNvPr id="3" name="Image 0" descr="/home/claude/pptx_work/icons/Fi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1125" y="1227125"/>
            <a:ext cx="746150" cy="746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TECHNICAL CONCEPT OVERVIEW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DeAcademy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22960" y="3977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Certification LMS to a Verified Competency Marketplace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25400">
            <a:solidFill>
              <a:srgbClr val="D68A1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892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Development Team &amp; IT Project Management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5193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Three Roles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grew beyond a training LMS into three integrated pillars working off the same data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468880"/>
            <a:ext cx="685800" cy="68580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7" name="Image 0" descr="/home/claude/pptx_work/icons/FiBook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26471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3375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LMS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and deliver accredited training with a full assessment workflow — quizzes, exercises, workshops, and examiner-reviewed final exams.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214884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468880"/>
            <a:ext cx="685800" cy="685800"/>
          </a:xfrm>
          <a:prstGeom prst="ellipse">
            <a:avLst/>
          </a:prstGeom>
          <a:solidFill>
            <a:srgbClr val="D68A1F"/>
          </a:solidFill>
          <a:ln/>
        </p:spPr>
      </p:sp>
      <p:pic>
        <p:nvPicPr>
          <p:cNvPr id="12" name="Image 1" descr="/home/claude/pptx_work/icons/FiAw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468" y="264718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3375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Competency Marketplace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9160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certificate becomes a permanent, shareable portfolio — with consent-gated verification for employers.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2148840"/>
            <a:ext cx="3429000" cy="3520440"/>
          </a:xfrm>
          <a:prstGeom prst="roundRect">
            <a:avLst>
              <a:gd name="adj" fmla="val 2133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58200" y="2468880"/>
            <a:ext cx="685800" cy="685800"/>
          </a:xfrm>
          <a:prstGeom prst="ellipse">
            <a:avLst/>
          </a:prstGeom>
          <a:solidFill>
            <a:srgbClr val="6D5BD0"/>
          </a:solidFill>
          <a:ln/>
        </p:spPr>
      </p:sp>
      <p:pic>
        <p:nvPicPr>
          <p:cNvPr id="17" name="Image 2" descr="/home/claude/pptx_work/icons/FiBriefc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08" y="264718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33375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LMS-as-a-Service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58200" y="40233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clients run their own private training — induction, SOPs, internal competency — fully isolated from other tenants.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Roles, Six Purpose-Built Portals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gets its own screen — not a shared, one-size-fits-all dashboard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423160"/>
            <a:ext cx="548640" cy="54864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7" name="Image 0" descr="/home/claude/pptx_work/icons/Fi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25658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4048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6112" y="3063240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Learns, earns certificates, builds a public portfolio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16552" y="21488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72584" y="2423160"/>
            <a:ext cx="548640" cy="54864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12" name="Image 1" descr="/home/claude/pptx_work/icons/FiEdit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30" y="256580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6672" y="24048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Tutor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72584" y="3063240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exercises &amp; workshops, monitors quiz results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93024" y="21488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49056" y="2423160"/>
            <a:ext cx="548640" cy="548640"/>
          </a:xfrm>
          <a:prstGeom prst="ellipse">
            <a:avLst/>
          </a:prstGeom>
          <a:solidFill>
            <a:srgbClr val="B4402E"/>
          </a:solidFill>
          <a:ln/>
        </p:spPr>
      </p:sp>
      <p:pic>
        <p:nvPicPr>
          <p:cNvPr id="17" name="Image 2" descr="/home/claude/pptx_work/icons/Fi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702" y="256580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53144" y="24048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Examiner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449056" y="3063240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final exams, decides Competent status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297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96112" y="4572000"/>
            <a:ext cx="548640" cy="548640"/>
          </a:xfrm>
          <a:prstGeom prst="ellipse">
            <a:avLst/>
          </a:prstGeom>
          <a:solidFill>
            <a:srgbClr val="17307D"/>
          </a:solidFill>
          <a:ln/>
        </p:spPr>
      </p:sp>
      <p:pic>
        <p:nvPicPr>
          <p:cNvPr id="22" name="Image 3" descr="/home/claude/pptx_work/icons/FiSettin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58" y="471464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5537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96112" y="5212080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whole platform — content, accounts, analytics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416552" y="4297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672584" y="4572000"/>
            <a:ext cx="548640" cy="548640"/>
          </a:xfrm>
          <a:prstGeom prst="ellipse">
            <a:avLst/>
          </a:prstGeom>
          <a:solidFill>
            <a:srgbClr val="6D5BD0"/>
          </a:solidFill>
          <a:ln/>
        </p:spPr>
      </p:sp>
      <p:pic>
        <p:nvPicPr>
          <p:cNvPr id="27" name="Image 4" descr="/home/claude/pptx_work/icons/FiBriefc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5230" y="4714646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76672" y="45537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Admin (PIC)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672584" y="5212080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employees &amp; private internal training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93024" y="4297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449056" y="4572000"/>
            <a:ext cx="548640" cy="548640"/>
          </a:xfrm>
          <a:prstGeom prst="ellipse">
            <a:avLst/>
          </a:prstGeom>
          <a:solidFill>
            <a:srgbClr val="D68A1F"/>
          </a:solidFill>
          <a:ln/>
        </p:spPr>
      </p:sp>
      <p:pic>
        <p:nvPicPr>
          <p:cNvPr id="32" name="Image 5" descr="/home/claude/pptx_work/icons/FiSear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1702" y="4714646"/>
            <a:ext cx="263347" cy="26334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53144" y="45537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 / Verifier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449056" y="5212080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talent, verifies competency with consent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Portals, One Platform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in the handoff package maps to one of these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77440"/>
            <a:ext cx="502920" cy="50292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7" name="Image 0" descr="/home/claude/pptx_work/icons/Fi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250819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 Dashboard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6301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home base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47288" y="21488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75888" y="2377440"/>
            <a:ext cx="502920" cy="50292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12" name="Image 1" descr="/home/claude/pptx_work/icons/FiShoppingC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647" y="250819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75888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Catalog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675888" y="36301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purchase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54496" y="21488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83096" y="2377440"/>
            <a:ext cx="502920" cy="50292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17" name="Image 2" descr="/home/claude/pptx_work/icons/FiPlay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855" y="250819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83096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Player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83096" y="36301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learning happens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61704" y="21488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290304" y="2377440"/>
            <a:ext cx="502920" cy="50292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22" name="Image 3" descr="/home/claude/pptx_work/icons/Fi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1063" y="2508199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0304" y="3017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Verification Page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290304" y="36301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public proof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40080" y="4370832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68680" y="4599432"/>
            <a:ext cx="502920" cy="50292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27" name="Image 4" descr="/home/claude/pptx_work/icons/FiCheckSqu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" y="4730191"/>
            <a:ext cx="241402" cy="24140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8680" y="52395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Tutor/Examiner Workspace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868680" y="5852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&amp; decisions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3447288" y="4370832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675888" y="4599432"/>
            <a:ext cx="502920" cy="502920"/>
          </a:xfrm>
          <a:prstGeom prst="ellipse">
            <a:avLst/>
          </a:prstGeom>
          <a:solidFill>
            <a:srgbClr val="17307D"/>
          </a:solidFill>
          <a:ln/>
        </p:spPr>
      </p:sp>
      <p:pic>
        <p:nvPicPr>
          <p:cNvPr id="32" name="Image 5" descr="/home/claude/pptx_work/icons/FiGri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6647" y="4730191"/>
            <a:ext cx="241402" cy="24140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675888" y="52395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Console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3675888" y="5852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control center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254496" y="4370832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483096" y="4599432"/>
            <a:ext cx="502920" cy="502920"/>
          </a:xfrm>
          <a:prstGeom prst="ellipse">
            <a:avLst/>
          </a:prstGeom>
          <a:solidFill>
            <a:srgbClr val="6D5BD0"/>
          </a:solidFill>
          <a:ln/>
        </p:spPr>
      </p:sp>
      <p:pic>
        <p:nvPicPr>
          <p:cNvPr id="37" name="Image 6" descr="/home/claude/pptx_work/icons/FiBriefc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3855" y="4730191"/>
            <a:ext cx="241402" cy="24140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483096" y="52395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Admin Portal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6483096" y="5852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&amp; internal training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9061704" y="4370832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9290304" y="4599432"/>
            <a:ext cx="502920" cy="502920"/>
          </a:xfrm>
          <a:prstGeom prst="ellipse">
            <a:avLst/>
          </a:prstGeom>
          <a:solidFill>
            <a:srgbClr val="D68A1F"/>
          </a:solidFill>
          <a:ln/>
        </p:spPr>
      </p:sp>
      <p:pic>
        <p:nvPicPr>
          <p:cNvPr id="42" name="Image 7" descr="/home/claude/pptx_work/icons/FiSearc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1063" y="4730191"/>
            <a:ext cx="241402" cy="24140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290304" y="52395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 Verifier Portal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9290304" y="5852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verify talent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Enrollment to Verified Portfolio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 that makes the marketplace pillar 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06040" y="3200400"/>
            <a:ext cx="201168" cy="0"/>
          </a:xfrm>
          <a:prstGeom prst="line">
            <a:avLst/>
          </a:prstGeom>
          <a:noFill/>
          <a:ln w="254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5860" y="2743200"/>
            <a:ext cx="914400" cy="91440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7" name="Image 0" descr="/home/claude/pptx_work/icons/FiShopping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604" y="2980944"/>
            <a:ext cx="438912" cy="4389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4228" y="2615184"/>
            <a:ext cx="347472" cy="347472"/>
          </a:xfrm>
          <a:prstGeom prst="ellipse">
            <a:avLst/>
          </a:prstGeom>
          <a:solidFill>
            <a:srgbClr val="101B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4228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3840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 &amp; Learn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43434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purchase → Course Player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73168" y="3200400"/>
            <a:ext cx="201168" cy="0"/>
          </a:xfrm>
          <a:prstGeom prst="line">
            <a:avLst/>
          </a:prstGeom>
          <a:noFill/>
          <a:ln w="25400">
            <a:solidFill>
              <a:srgbClr val="E3E7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32988" y="2743200"/>
            <a:ext cx="914400" cy="91440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14" name="Image 1" descr="/home/claude/pptx_work/icons/FiCheckSqu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2980944"/>
            <a:ext cx="438912" cy="43891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991356" y="2615184"/>
            <a:ext cx="347472" cy="347472"/>
          </a:xfrm>
          <a:prstGeom prst="ellipse">
            <a:avLst/>
          </a:prstGeom>
          <a:solidFill>
            <a:srgbClr val="101B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991356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807208" y="3840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Assessed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2807208" y="43434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exercise, workshop, exam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940296" y="3200400"/>
            <a:ext cx="201168" cy="0"/>
          </a:xfrm>
          <a:prstGeom prst="line">
            <a:avLst/>
          </a:prstGeom>
          <a:noFill/>
          <a:ln w="25400">
            <a:solidFill>
              <a:srgbClr val="E3E7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500116" y="2743200"/>
            <a:ext cx="914400" cy="914400"/>
          </a:xfrm>
          <a:prstGeom prst="ellipse">
            <a:avLst/>
          </a:prstGeom>
          <a:solidFill>
            <a:srgbClr val="D68A1F"/>
          </a:solidFill>
          <a:ln/>
        </p:spPr>
      </p:sp>
      <p:pic>
        <p:nvPicPr>
          <p:cNvPr id="21" name="Image 2" descr="/home/claude/pptx_work/icons/FiAw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60" y="2980944"/>
            <a:ext cx="438912" cy="43891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158484" y="2615184"/>
            <a:ext cx="347472" cy="347472"/>
          </a:xfrm>
          <a:prstGeom prst="ellipse">
            <a:avLst/>
          </a:prstGeom>
          <a:solidFill>
            <a:srgbClr val="101B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158484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974336" y="3840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4974336" y="43434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issued, CPD tracking starts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107424" y="3200400"/>
            <a:ext cx="201168" cy="0"/>
          </a:xfrm>
          <a:prstGeom prst="line">
            <a:avLst/>
          </a:prstGeom>
          <a:noFill/>
          <a:ln w="25400">
            <a:solidFill>
              <a:srgbClr val="E3E7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667244" y="2743200"/>
            <a:ext cx="914400" cy="914400"/>
          </a:xfrm>
          <a:prstGeom prst="ellipse">
            <a:avLst/>
          </a:prstGeom>
          <a:solidFill>
            <a:srgbClr val="6D5BD0"/>
          </a:solidFill>
          <a:ln/>
        </p:spPr>
      </p:sp>
      <p:pic>
        <p:nvPicPr>
          <p:cNvPr id="28" name="Image 3" descr="/home/claude/pptx_work/icons/FiUs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988" y="2980944"/>
            <a:ext cx="438912" cy="43891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325612" y="2615184"/>
            <a:ext cx="347472" cy="347472"/>
          </a:xfrm>
          <a:prstGeom prst="ellipse">
            <a:avLst/>
          </a:prstGeom>
          <a:solidFill>
            <a:srgbClr val="101B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325612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141464" y="3840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Built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7141464" y="43434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profile, consent settings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9834372" y="2743200"/>
            <a:ext cx="914400" cy="91440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34" name="Image 4" descr="/home/claude/pptx_work/icons/Fi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2116" y="2980944"/>
            <a:ext cx="438912" cy="438912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0492740" y="2615184"/>
            <a:ext cx="347472" cy="347472"/>
          </a:xfrm>
          <a:prstGeom prst="ellipse">
            <a:avLst/>
          </a:prstGeom>
          <a:solidFill>
            <a:srgbClr val="101B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1049274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9308592" y="3840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9308592" y="43434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searches, requests, gets consent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as Their Own LMS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Course Player, same experience — but the content stays private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154680" y="2743200"/>
            <a:ext cx="256032" cy="0"/>
          </a:xfrm>
          <a:prstGeom prst="line">
            <a:avLst/>
          </a:prstGeom>
          <a:noFill/>
          <a:ln w="254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0180" y="2286000"/>
            <a:ext cx="914400" cy="914400"/>
          </a:xfrm>
          <a:prstGeom prst="ellipse">
            <a:avLst/>
          </a:prstGeom>
          <a:solidFill>
            <a:srgbClr val="6D5BD0"/>
          </a:solidFill>
          <a:ln/>
        </p:spPr>
      </p:sp>
      <p:pic>
        <p:nvPicPr>
          <p:cNvPr id="7" name="Image 0" descr="/home/claude/pptx_work/icons/FiEdit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924" y="252374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429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 Builds Training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950208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Induction, SOPs, internal competency — using the same content editor as DeAcademy's own catalog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25312" y="2743200"/>
            <a:ext cx="256032" cy="0"/>
          </a:xfrm>
          <a:prstGeom prst="line">
            <a:avLst/>
          </a:prstGeom>
          <a:noFill/>
          <a:ln w="25400">
            <a:solidFill>
              <a:srgbClr val="E3E7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10812" y="2286000"/>
            <a:ext cx="914400" cy="91440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12" name="Image 1" descr="/home/claude/pptx_work/icons/Fi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56" y="252374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0712" y="3429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Assigned to Employees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10712" y="3950208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Assign Training flow used for public catalog courses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695944" y="2743200"/>
            <a:ext cx="256032" cy="0"/>
          </a:xfrm>
          <a:prstGeom prst="line">
            <a:avLst/>
          </a:prstGeom>
          <a:noFill/>
          <a:ln w="25400">
            <a:solidFill>
              <a:srgbClr val="E3E7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81444" y="2286000"/>
            <a:ext cx="914400" cy="91440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17" name="Image 2" descr="/home/claude/pptx_work/icons/FiPlay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188" y="252374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81344" y="3429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Course Player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181344" y="3950208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see zero difference — video/slides, quiz, exercise, exam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752076" y="2286000"/>
            <a:ext cx="914400" cy="914400"/>
          </a:xfrm>
          <a:prstGeom prst="ellipse">
            <a:avLst/>
          </a:prstGeom>
          <a:solidFill>
            <a:srgbClr val="B4402E"/>
          </a:solidFill>
          <a:ln/>
        </p:spPr>
      </p:sp>
      <p:pic>
        <p:nvPicPr>
          <p:cNvPr id="21" name="Image 3" descr="/home/claude/pptx_work/icons/Fi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9820" y="252374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51976" y="34290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Stays Private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951976" y="3950208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 other companies AND to DeAcademy staff — only completion metadata syncs back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539496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68680" y="5559552"/>
            <a:ext cx="365760" cy="365760"/>
          </a:xfrm>
          <a:prstGeom prst="ellipse">
            <a:avLst/>
          </a:prstGeom>
          <a:solidFill>
            <a:srgbClr val="6D5BD0"/>
          </a:solidFill>
          <a:ln/>
        </p:spPr>
      </p:sp>
      <p:pic>
        <p:nvPicPr>
          <p:cNvPr id="26" name="Image 4" descr="/home/claude/pptx_work/icons/Fi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8" y="5654650"/>
            <a:ext cx="175565" cy="1755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39496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pitch for corporate clients: DeAcademy replaces their own internal LMS entirely.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Always Requires Consent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public info is instant — anything deeper is gated by the participant's choice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23360" y="2880360"/>
            <a:ext cx="320040" cy="0"/>
          </a:xfrm>
          <a:prstGeom prst="line">
            <a:avLst/>
          </a:prstGeom>
          <a:noFill/>
          <a:ln w="25400">
            <a:solidFill>
              <a:srgbClr val="E3E7F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920240" y="2377440"/>
            <a:ext cx="1005840" cy="1005840"/>
          </a:xfrm>
          <a:prstGeom prst="ellipse">
            <a:avLst/>
          </a:prstGeom>
          <a:solidFill>
            <a:srgbClr val="D68A1F"/>
          </a:solidFill>
          <a:ln/>
        </p:spPr>
      </p:sp>
      <p:pic>
        <p:nvPicPr>
          <p:cNvPr id="7" name="Image 0" descr="/home/claude/pptx_work/icons/Fi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1758" y="2638958"/>
            <a:ext cx="482803" cy="482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611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 Searches &amp; Requests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 public profile, requests the full verification report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543800" y="2880360"/>
            <a:ext cx="320040" cy="0"/>
          </a:xfrm>
          <a:prstGeom prst="line">
            <a:avLst/>
          </a:prstGeom>
          <a:noFill/>
          <a:ln w="25400">
            <a:solidFill>
              <a:srgbClr val="E3E7F0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5440680" y="2377440"/>
            <a:ext cx="1005840" cy="100584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12" name="Image 1" descr="/home/claude/pptx_work/icons/FiUser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198" y="2638958"/>
            <a:ext cx="482803" cy="482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3400" y="3611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 Approves or Denies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343400" y="41605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 they've pre-set Full Access, every request needs their action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961120" y="2377440"/>
            <a:ext cx="1005840" cy="100584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6" name="Image 2" descr="/home/claude/pptx_work/icons/FiUn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638" y="2638958"/>
            <a:ext cx="482803" cy="482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863840" y="3611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Unlocked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863840" y="41605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Viewable in-platform immediately, with an optional PDF download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22960" y="5074920"/>
            <a:ext cx="10332720" cy="868680"/>
          </a:xfrm>
          <a:prstGeom prst="roundRect">
            <a:avLst>
              <a:gd name="adj" fmla="val 6316"/>
            </a:avLst>
          </a:prstGeom>
          <a:solidFill>
            <a:srgbClr val="FDF3E4"/>
          </a:solidFill>
          <a:ln w="12700">
            <a:solidFill>
              <a:srgbClr val="D68A1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188720" y="50749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the participant controls: Full Access (auto-approve) · Partial (summary only, never full) · Request-Based (approve every time).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4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DEVELOPERS MUST NOT MISS — #1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Certificates Aren't Just Valid or Expired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lifecycles, depending on whether the certificate requires CPD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95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CPD-REQUIRED CERTIFICATES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731520" cy="73152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7" name="Image 0" descr="/home/claude/pptx_work/icons/Fi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270479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50" dirty="0"/>
          </a:p>
        </p:txBody>
      </p:sp>
      <p:pic>
        <p:nvPicPr>
          <p:cNvPr id="9" name="Image 1" descr="/home/claude/pptx_work/icons/Fi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472" y="274320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874520" y="2514600"/>
            <a:ext cx="731520" cy="731520"/>
          </a:xfrm>
          <a:prstGeom prst="ellipse">
            <a:avLst/>
          </a:prstGeom>
          <a:solidFill>
            <a:srgbClr val="D68A1F"/>
          </a:solidFill>
          <a:ln/>
        </p:spPr>
      </p:sp>
      <p:pic>
        <p:nvPicPr>
          <p:cNvPr id="11" name="Image 2" descr="/home/claude/pptx_work/icons/Fi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715" y="2704795"/>
            <a:ext cx="351130" cy="3511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Period</a:t>
            </a:r>
            <a:endParaRPr lang="en-US" sz="1050" dirty="0"/>
          </a:p>
        </p:txBody>
      </p:sp>
      <p:pic>
        <p:nvPicPr>
          <p:cNvPr id="13" name="Image 3" descr="/home/claude/pptx_work/icons/Fi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912" y="2743200"/>
            <a:ext cx="274320" cy="274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108960" y="2514600"/>
            <a:ext cx="731520" cy="731520"/>
          </a:xfrm>
          <a:prstGeom prst="ellipse">
            <a:avLst/>
          </a:prstGeom>
          <a:solidFill>
            <a:srgbClr val="B4402E"/>
          </a:solidFill>
          <a:ln/>
        </p:spPr>
      </p:sp>
      <p:pic>
        <p:nvPicPr>
          <p:cNvPr id="15" name="Image 4" descr="/home/claude/pptx_work/icons/FiPause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9155" y="2704795"/>
            <a:ext cx="351130" cy="35113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83464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Suspended</a:t>
            </a:r>
            <a:endParaRPr lang="en-US" sz="1050" dirty="0"/>
          </a:p>
        </p:txBody>
      </p:sp>
      <p:pic>
        <p:nvPicPr>
          <p:cNvPr id="17" name="Image 5" descr="/home/claude/pptx_work/icons/Fi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9352" y="2743200"/>
            <a:ext cx="274320" cy="27432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4343400" y="2514600"/>
            <a:ext cx="731520" cy="731520"/>
          </a:xfrm>
          <a:prstGeom prst="ellipse">
            <a:avLst/>
          </a:prstGeom>
          <a:solidFill>
            <a:srgbClr val="B4402E"/>
          </a:solidFill>
          <a:ln/>
        </p:spPr>
      </p:sp>
      <p:pic>
        <p:nvPicPr>
          <p:cNvPr id="19" name="Image 6" descr="/home/claude/pptx_work/icons/FiX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3595" y="2704795"/>
            <a:ext cx="351130" cy="35113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06908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</a:t>
            </a:r>
            <a:endParaRPr lang="en-US" sz="1050" dirty="0"/>
          </a:p>
        </p:txBody>
      </p:sp>
      <p:sp>
        <p:nvSpPr>
          <p:cNvPr id="21" name="Text 12"/>
          <p:cNvSpPr/>
          <p:nvPr/>
        </p:nvSpPr>
        <p:spPr>
          <a:xfrm>
            <a:off x="6126480" y="26517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 requires re-assessment to reactivate — catching up on CPD hours alone is no longer enough.</a:t>
            </a:r>
            <a:endParaRPr lang="en-US" sz="1150" dirty="0"/>
          </a:p>
        </p:txBody>
      </p:sp>
      <p:sp>
        <p:nvSpPr>
          <p:cNvPr id="22" name="Text 13"/>
          <p:cNvSpPr/>
          <p:nvPr/>
        </p:nvSpPr>
        <p:spPr>
          <a:xfrm>
            <a:off x="64008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NON-CPD CERTIFICATES</a:t>
            </a:r>
            <a:endParaRPr lang="en-US" sz="1200" dirty="0"/>
          </a:p>
        </p:txBody>
      </p:sp>
      <p:sp>
        <p:nvSpPr>
          <p:cNvPr id="23" name="Shape 14"/>
          <p:cNvSpPr/>
          <p:nvPr/>
        </p:nvSpPr>
        <p:spPr>
          <a:xfrm>
            <a:off x="640080" y="4434840"/>
            <a:ext cx="731520" cy="73152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24" name="Image 7" descr="/home/claude/pptx_work/icons/FiCheckCir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75" y="4625035"/>
            <a:ext cx="351130" cy="35113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37160" y="5257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50" dirty="0"/>
          </a:p>
        </p:txBody>
      </p:sp>
      <p:pic>
        <p:nvPicPr>
          <p:cNvPr id="26" name="Image 8" descr="/home/claude/pptx_work/icons/FiArrowR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0552" y="4663440"/>
            <a:ext cx="274320" cy="274320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2514600" y="4434840"/>
            <a:ext cx="731520" cy="731520"/>
          </a:xfrm>
          <a:prstGeom prst="ellipse">
            <a:avLst/>
          </a:prstGeom>
          <a:solidFill>
            <a:srgbClr val="D68A1F"/>
          </a:solidFill>
          <a:ln/>
        </p:spPr>
      </p:sp>
      <p:pic>
        <p:nvPicPr>
          <p:cNvPr id="28" name="Image 9" descr="/home/claude/pptx_work/icons/FiHelpCirc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4795" y="4625035"/>
            <a:ext cx="351130" cy="35113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2011680" y="5257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Due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(every 3 yrs)</a:t>
            </a:r>
            <a:endParaRPr lang="en-US" sz="1050" dirty="0"/>
          </a:p>
        </p:txBody>
      </p:sp>
      <p:pic>
        <p:nvPicPr>
          <p:cNvPr id="30" name="Image 10" descr="/home/claude/pptx_work/icons/FiArrowRigh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05072" y="4663440"/>
            <a:ext cx="274320" cy="274320"/>
          </a:xfrm>
          <a:prstGeom prst="rect">
            <a:avLst/>
          </a:prstGeom>
        </p:spPr>
      </p:pic>
      <p:sp>
        <p:nvSpPr>
          <p:cNvPr id="31" name="Shape 18"/>
          <p:cNvSpPr/>
          <p:nvPr/>
        </p:nvSpPr>
        <p:spPr>
          <a:xfrm>
            <a:off x="4389120" y="4434840"/>
            <a:ext cx="731520" cy="731520"/>
          </a:xfrm>
          <a:prstGeom prst="ellipse">
            <a:avLst/>
          </a:prstGeom>
          <a:solidFill>
            <a:srgbClr val="B4402E"/>
          </a:solidFill>
          <a:ln/>
        </p:spPr>
      </p:sp>
      <p:pic>
        <p:nvPicPr>
          <p:cNvPr id="32" name="Image 11" descr="/home/claude/pptx_work/icons/FiMoo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9315" y="4625035"/>
            <a:ext cx="351130" cy="35113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3886200" y="5257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</a:t>
            </a:r>
            <a:endParaRPr lang="en-US" sz="1050" dirty="0"/>
          </a:p>
        </p:txBody>
      </p:sp>
      <p:sp>
        <p:nvSpPr>
          <p:cNvPr id="34" name="Text 20"/>
          <p:cNvSpPr/>
          <p:nvPr/>
        </p:nvSpPr>
        <p:spPr>
          <a:xfrm>
            <a:off x="6126480" y="45720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accepted: project log, workload letter, or work sample — optionally co-signed by the employer for a stronger "Employer-Verified" badge.</a:t>
            </a:r>
            <a:endParaRPr lang="en-US" sz="1150" dirty="0"/>
          </a:p>
        </p:txBody>
      </p:sp>
      <p:sp>
        <p:nvSpPr>
          <p:cNvPr id="35" name="Text 21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36" name="Text 2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4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DEVELOPERS MUST NOT MISS — #2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Is Structural, Not Just UI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rules below must be enforced server-side — hiding a button in the frontend is not access control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514600"/>
            <a:ext cx="640080" cy="64008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7" name="Image 0" descr="/home/claude/pptx_work/icons/Fi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61" y="26810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3375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3-Level Consent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005840" y="3886200"/>
            <a:ext cx="457200" cy="457200"/>
          </a:xfrm>
          <a:prstGeom prst="ellipse">
            <a:avLst/>
          </a:prstGeom>
          <a:solidFill>
            <a:srgbClr val="5B6B85"/>
          </a:solidFill>
          <a:ln/>
        </p:spPr>
      </p:sp>
      <p:pic>
        <p:nvPicPr>
          <p:cNvPr id="10" name="Image 1" descr="/home/claude/pptx_work/icons/FiUn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400507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38587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645920" y="41422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Auto-approved instantly after payment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005840" y="4572000"/>
            <a:ext cx="457200" cy="457200"/>
          </a:xfrm>
          <a:prstGeom prst="ellipse">
            <a:avLst/>
          </a:prstGeom>
          <a:solidFill>
            <a:srgbClr val="5B6B85"/>
          </a:solidFill>
          <a:ln/>
        </p:spPr>
      </p:sp>
      <p:pic>
        <p:nvPicPr>
          <p:cNvPr id="14" name="Image 2" descr="/home/claude/pptx_work/icons/Fi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469087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45445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645920" y="48280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only — full report never available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1005840" y="5257800"/>
            <a:ext cx="457200" cy="457200"/>
          </a:xfrm>
          <a:prstGeom prst="ellipse">
            <a:avLst/>
          </a:prstGeom>
          <a:solidFill>
            <a:srgbClr val="5B6B85"/>
          </a:solidFill>
          <a:ln/>
        </p:spPr>
      </p:sp>
      <p:pic>
        <p:nvPicPr>
          <p:cNvPr id="18" name="Image 3" descr="/home/claude/pptx_work/icons/FiUser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537667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52303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Request-Based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645920" y="55138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approves or denies each one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63640" y="21488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629400" y="2514600"/>
            <a:ext cx="640080" cy="640080"/>
          </a:xfrm>
          <a:prstGeom prst="ellipse">
            <a:avLst/>
          </a:prstGeom>
          <a:solidFill>
            <a:srgbClr val="B4402E"/>
          </a:solidFill>
          <a:ln/>
        </p:spPr>
      </p:sp>
      <p:pic>
        <p:nvPicPr>
          <p:cNvPr id="23" name="Image 4" descr="/home/claude/pptx_work/icons/Fi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5821" y="2681021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29400" y="33375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 Isolation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6629400" y="393192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internal training content is invisible to other companies — and to DeAcademy Operators themselves. Only aggregate metadata (training count, enrollment numbers) is shared for billing and capacity planning.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629400" y="5212080"/>
            <a:ext cx="4526280" cy="640080"/>
          </a:xfrm>
          <a:prstGeom prst="roundRect">
            <a:avLst>
              <a:gd name="adj" fmla="val 8571"/>
            </a:avLst>
          </a:prstGeom>
          <a:solidFill>
            <a:srgbClr val="FBEAE7"/>
          </a:solidFill>
          <a:ln/>
        </p:spPr>
      </p:sp>
      <p:sp>
        <p:nvSpPr>
          <p:cNvPr id="27" name="Text 20"/>
          <p:cNvSpPr/>
          <p:nvPr/>
        </p:nvSpPr>
        <p:spPr>
          <a:xfrm>
            <a:off x="6812280" y="52120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44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via Row-Level Security scoped to company_id — not application-layer filtering alone.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— full field-level schema is in DATA-MODEL.md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92040" y="2674620"/>
            <a:ext cx="502920" cy="0"/>
          </a:xfrm>
          <a:prstGeom prst="line">
            <a:avLst/>
          </a:prstGeom>
          <a:noFill/>
          <a:ln w="1905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2674620"/>
            <a:ext cx="502920" cy="0"/>
          </a:xfrm>
          <a:prstGeom prst="line">
            <a:avLst/>
          </a:prstGeom>
          <a:noFill/>
          <a:ln w="19050">
            <a:solidFill>
              <a:srgbClr val="E3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64040" y="2674620"/>
            <a:ext cx="228600" cy="0"/>
          </a:xfrm>
          <a:prstGeom prst="line">
            <a:avLst/>
          </a:prstGeom>
          <a:noFill/>
          <a:ln w="19050">
            <a:solidFill>
              <a:srgbClr val="E3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4503420"/>
            <a:ext cx="960120" cy="0"/>
          </a:xfrm>
          <a:prstGeom prst="line">
            <a:avLst/>
          </a:prstGeom>
          <a:noFill/>
          <a:ln w="19050">
            <a:solidFill>
              <a:srgbClr val="E3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06840" y="4503420"/>
            <a:ext cx="960120" cy="0"/>
          </a:xfrm>
          <a:prstGeom prst="line">
            <a:avLst/>
          </a:prstGeom>
          <a:noFill/>
          <a:ln w="19050">
            <a:solidFill>
              <a:srgbClr val="E3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2860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952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286000"/>
            <a:ext cx="109728" cy="777240"/>
          </a:xfrm>
          <a:prstGeom prst="rect">
            <a:avLst/>
          </a:prstGeom>
          <a:solidFill>
            <a:srgbClr val="2952E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2860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08960" y="22860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6D5B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2286000"/>
            <a:ext cx="109728" cy="777240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22860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94960" y="22860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EA5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2286000"/>
            <a:ext cx="109728" cy="777240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22860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80960" y="22860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EA5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286000"/>
            <a:ext cx="109728" cy="777240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22860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692640" y="22860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D68A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92640" y="2286000"/>
            <a:ext cx="109728" cy="777240"/>
          </a:xfrm>
          <a:prstGeom prst="rect">
            <a:avLst/>
          </a:prstGeom>
          <a:solidFill>
            <a:srgbClr val="D68A1F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0" y="22860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965960" y="41148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E9E5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65960" y="4114800"/>
            <a:ext cx="109728" cy="77724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27" name="Text 25"/>
          <p:cNvSpPr/>
          <p:nvPr/>
        </p:nvSpPr>
        <p:spPr>
          <a:xfrm>
            <a:off x="2148840" y="41148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480560" y="41148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E9E5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0560" y="4114800"/>
            <a:ext cx="109728" cy="777240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41148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Settings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223760" y="41148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B440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0" y="4114800"/>
            <a:ext cx="109728" cy="777240"/>
          </a:xfrm>
          <a:prstGeom prst="rect">
            <a:avLst/>
          </a:prstGeom>
          <a:solidFill>
            <a:srgbClr val="B4402E"/>
          </a:solidFill>
          <a:ln/>
        </p:spPr>
      </p:sp>
      <p:sp>
        <p:nvSpPr>
          <p:cNvPr id="33" name="Text 31"/>
          <p:cNvSpPr/>
          <p:nvPr/>
        </p:nvSpPr>
        <p:spPr>
          <a:xfrm>
            <a:off x="7406640" y="41148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Requests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966960" y="41148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B440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66960" y="4114800"/>
            <a:ext cx="109728" cy="777240"/>
          </a:xfrm>
          <a:prstGeom prst="rect">
            <a:avLst/>
          </a:prstGeom>
          <a:solidFill>
            <a:srgbClr val="B4402E"/>
          </a:solidFill>
          <a:ln/>
        </p:spPr>
      </p:sp>
      <p:sp>
        <p:nvSpPr>
          <p:cNvPr id="36" name="Text 34"/>
          <p:cNvSpPr/>
          <p:nvPr/>
        </p:nvSpPr>
        <p:spPr>
          <a:xfrm>
            <a:off x="10149840" y="411480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Accounts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hold roles across Companies (multi-tenant) and Trainings; Enrollments produce Certificates, which feed CPD and the Portfolio; Verification Requests connect Portfolio Settings to Verifier Accounts.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BACKEND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Infrastructure Needs to Handle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areas that shape the technical architecture from day one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514600"/>
            <a:ext cx="640080" cy="640080"/>
          </a:xfrm>
          <a:prstGeom prst="ellipse">
            <a:avLst/>
          </a:prstGeom>
          <a:solidFill>
            <a:srgbClr val="B4402E"/>
          </a:solidFill>
          <a:ln/>
        </p:spPr>
      </p:sp>
      <p:pic>
        <p:nvPicPr>
          <p:cNvPr id="7" name="Image 0" descr="/home/claude/pptx_work/icons/Fi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6810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514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Multi-Tenancy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60120" y="31546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access control per company; internal training content isolated at the storage layer, not just the API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219456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514600"/>
            <a:ext cx="640080" cy="64008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12" name="Image 1" descr="/home/claude/pptx_work/icons/Fi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101" y="26810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514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Storage &amp; Conversion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583680" y="31546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Video, narration audio, PPTX-to-slide conversion — object storage with signed URLs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29768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0120" y="4617720"/>
            <a:ext cx="640080" cy="64008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7" name="Image 2" descr="/home/claude/pptx_work/icons/FiCredit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1" y="478414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6177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&amp; Subscriptions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960120" y="52578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sales, corporate invoicing, participant membership, verifier plans — all recurring-capable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63640" y="429768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83680" y="4617720"/>
            <a:ext cx="640080" cy="640080"/>
          </a:xfrm>
          <a:prstGeom prst="ellipse">
            <a:avLst/>
          </a:prstGeom>
          <a:solidFill>
            <a:srgbClr val="D68A1F"/>
          </a:solidFill>
          <a:ln/>
        </p:spPr>
      </p:sp>
      <p:pic>
        <p:nvPicPr>
          <p:cNvPr id="22" name="Image 3" descr="/home/claude/pptx_work/icons/Fi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101" y="478414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46177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583680" y="52578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 reminders, training deadlines, verification requests, corporate activation invites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PACKAGE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You're Getting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needed to start technical scoping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514600"/>
            <a:ext cx="640080" cy="640080"/>
          </a:xfrm>
          <a:prstGeom prst="ellipse">
            <a:avLst/>
          </a:prstGeom>
          <a:solidFill>
            <a:srgbClr val="2952E3"/>
          </a:solidFill>
          <a:ln/>
        </p:spPr>
      </p:sp>
      <p:pic>
        <p:nvPicPr>
          <p:cNvPr id="7" name="Image 0" descr="/home/claude/pptx_work/icons/Fi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61" y="26810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3375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Portal Prototypes (React)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3840480"/>
            <a:ext cx="4526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Dashboard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Catalog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Player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Tutor/Examiner Workspace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Console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Admin Portal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Verification Page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Verifier Portal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21488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29400" y="2514600"/>
            <a:ext cx="640080" cy="640080"/>
          </a:xfrm>
          <a:prstGeom prst="ellipse">
            <a:avLst/>
          </a:prstGeom>
          <a:solidFill>
            <a:srgbClr val="D68A1F"/>
          </a:solidFill>
          <a:ln/>
        </p:spPr>
      </p:sp>
      <p:pic>
        <p:nvPicPr>
          <p:cNvPr id="12" name="Image 1" descr="/home/claude/pptx_work/icons/Fi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821" y="26810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29400" y="33375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Technical Documents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629400" y="3840480"/>
            <a:ext cx="4526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— full scope &amp; business rules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DATA-MODEL — table-level schema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erd.mermaid — visual entity diagram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ROLES-PERMISSIONS-MATRIX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API-ENDPOINTS — draft endpoint list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Phasing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16264F"/>
          </a:solidFill>
          <a:ln w="12700">
            <a:solidFill>
              <a:srgbClr val="2A3D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84248"/>
            <a:ext cx="548640" cy="548640"/>
          </a:xfrm>
          <a:prstGeom prst="ellipse">
            <a:avLst/>
          </a:prstGeom>
          <a:solidFill>
            <a:srgbClr val="D68A1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LMS &amp; Certification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Course Player, Tutor/Examiner, basic certificates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16264F"/>
          </a:solidFill>
          <a:ln w="12700">
            <a:solidFill>
              <a:srgbClr val="2A3D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984248"/>
            <a:ext cx="548640" cy="548640"/>
          </a:xfrm>
          <a:prstGeom prst="ellipse">
            <a:avLst/>
          </a:prstGeom>
          <a:solidFill>
            <a:srgbClr val="D68A1F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19659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Multi-Tenant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09160" y="27432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Admin, internal training, operator provisioning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16264F"/>
          </a:solidFill>
          <a:ln w="12700">
            <a:solidFill>
              <a:srgbClr val="2A3D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1984248"/>
            <a:ext cx="548640" cy="548640"/>
          </a:xfrm>
          <a:prstGeom prst="ellipse">
            <a:avLst/>
          </a:prstGeom>
          <a:solidFill>
            <a:srgbClr val="D68A1F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0" y="19659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Marketplace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58200" y="27432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Membership, portfolio, Employer Verifier, consent flows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6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FOR THIS MEETING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365760" cy="365760"/>
          </a:xfrm>
          <a:prstGeom prst="ellipse">
            <a:avLst/>
          </a:prstGeom>
          <a:solidFill>
            <a:srgbClr val="2A3D6E"/>
          </a:solidFill>
          <a:ln/>
        </p:spPr>
      </p:sp>
      <p:pic>
        <p:nvPicPr>
          <p:cNvPr id="21" name="Image 0" descr="/home/claude/pptx_work/icons/FiHelp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4438498"/>
            <a:ext cx="175565" cy="17556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8872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consent level for new participants — Request-Based or Partial?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0080" y="4937760"/>
            <a:ext cx="365760" cy="365760"/>
          </a:xfrm>
          <a:prstGeom prst="ellipse">
            <a:avLst/>
          </a:prstGeom>
          <a:solidFill>
            <a:srgbClr val="2A3D6E"/>
          </a:solidFill>
          <a:ln/>
        </p:spPr>
      </p:sp>
      <p:pic>
        <p:nvPicPr>
          <p:cNvPr id="24" name="Image 1" descr="/home/claude/pptx_work/icons/FiHelp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8" y="5032858"/>
            <a:ext cx="175565" cy="17556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8872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verifies Competency Currency Attestations for individual (non-corporate) participants?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0080" y="5532120"/>
            <a:ext cx="365760" cy="365760"/>
          </a:xfrm>
          <a:prstGeom prst="ellipse">
            <a:avLst/>
          </a:prstGeom>
          <a:solidFill>
            <a:srgbClr val="2A3D6E"/>
          </a:solidFill>
          <a:ln/>
        </p:spPr>
      </p:sp>
      <p:pic>
        <p:nvPicPr>
          <p:cNvPr id="27" name="Image 2" descr="/home/claude/pptx_work/icons/FiHelp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5627218"/>
            <a:ext cx="175565" cy="17556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188720" y="5532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policy when a verifier request is denied by the participant?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DeAcademy — Concept Overview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8384" y="1920240"/>
            <a:ext cx="1463040" cy="1463040"/>
          </a:xfrm>
          <a:prstGeom prst="ellipse">
            <a:avLst/>
          </a:prstGeom>
          <a:solidFill>
            <a:srgbClr val="D68A1F"/>
          </a:solidFill>
          <a:ln/>
        </p:spPr>
      </p:sp>
      <p:pic>
        <p:nvPicPr>
          <p:cNvPr id="3" name="Image 0" descr="/home/claude/pptx_work/icons/FiMessage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8774" y="2300630"/>
            <a:ext cx="702259" cy="702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657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Discuss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737360" y="44348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and 8 working prototypes are available for reference during scoping.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2026-07-24T07:54:21Z</dcterms:created>
  <dcterms:modified xsi:type="dcterms:W3CDTF">2026-07-24T07:54:21Z</dcterms:modified>
</cp:coreProperties>
</file>